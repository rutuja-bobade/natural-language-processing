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0"/>
    </p:embeddedFont>
    <p:embeddedFont>
      <p:font typeface="Inter 1" charset="1" panose="020B0502030000000004"/>
      <p:regular r:id="rId21"/>
    </p:embeddedFont>
    <p:embeddedFont>
      <p:font typeface="Poppins" charset="1" panose="00000500000000000000"/>
      <p:regular r:id="rId22"/>
    </p:embeddedFont>
    <p:embeddedFont>
      <p:font typeface="Inter 1 Bold" charset="1" panose="020B0802030000000004"/>
      <p:regular r:id="rId23"/>
    </p:embeddedFont>
    <p:embeddedFont>
      <p:font typeface="Inter 2" charset="1" panose="02000503000000020004"/>
      <p:regular r:id="rId24"/>
    </p:embeddedFont>
    <p:embeddedFont>
      <p:font typeface="Canva Sans" charset="1" panose="020B0503030501040103"/>
      <p:regular r:id="rId25"/>
    </p:embeddedFont>
    <p:embeddedFont>
      <p:font typeface="Canva Sans Bold" charset="1" panose="020B08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0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0721" y="3589829"/>
            <a:ext cx="3529421" cy="3775544"/>
            <a:chOff x="0" y="0"/>
            <a:chExt cx="929559" cy="9943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9559" cy="994382"/>
            </a:xfrm>
            <a:custGeom>
              <a:avLst/>
              <a:gdLst/>
              <a:ahLst/>
              <a:cxnLst/>
              <a:rect r="r" b="b" t="t" l="l"/>
              <a:pathLst>
                <a:path h="994382" w="929559">
                  <a:moveTo>
                    <a:pt x="0" y="0"/>
                  </a:moveTo>
                  <a:lnTo>
                    <a:pt x="929559" y="0"/>
                  </a:lnTo>
                  <a:lnTo>
                    <a:pt x="929559" y="994382"/>
                  </a:lnTo>
                  <a:lnTo>
                    <a:pt x="0" y="994382"/>
                  </a:lnTo>
                  <a:close/>
                </a:path>
              </a:pathLst>
            </a:custGeom>
            <a:solidFill>
              <a:srgbClr val="BCA37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29559" cy="1042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50683" y="7365373"/>
            <a:ext cx="1190712" cy="119071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207460" y="7876541"/>
            <a:ext cx="2618042" cy="4114800"/>
          </a:xfrm>
          <a:custGeom>
            <a:avLst/>
            <a:gdLst/>
            <a:ahLst/>
            <a:cxnLst/>
            <a:rect r="r" b="b" t="t" l="l"/>
            <a:pathLst>
              <a:path h="4114800" w="2618042">
                <a:moveTo>
                  <a:pt x="0" y="0"/>
                </a:moveTo>
                <a:lnTo>
                  <a:pt x="2618042" y="0"/>
                </a:lnTo>
                <a:lnTo>
                  <a:pt x="26180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3601700" y="2158589"/>
            <a:ext cx="7315200" cy="247973"/>
          </a:xfrm>
          <a:custGeom>
            <a:avLst/>
            <a:gdLst/>
            <a:ahLst/>
            <a:cxnLst/>
            <a:rect r="r" b="b" t="t" l="l"/>
            <a:pathLst>
              <a:path h="247973" w="7315200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74125" y="-688206"/>
            <a:ext cx="3251377" cy="2483239"/>
          </a:xfrm>
          <a:custGeom>
            <a:avLst/>
            <a:gdLst/>
            <a:ahLst/>
            <a:cxnLst/>
            <a:rect r="r" b="b" t="t" l="l"/>
            <a:pathLst>
              <a:path h="2483239" w="3251377">
                <a:moveTo>
                  <a:pt x="0" y="0"/>
                </a:moveTo>
                <a:lnTo>
                  <a:pt x="3251377" y="0"/>
                </a:lnTo>
                <a:lnTo>
                  <a:pt x="3251377" y="2483239"/>
                </a:lnTo>
                <a:lnTo>
                  <a:pt x="0" y="24832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77296" y="4563597"/>
            <a:ext cx="14499097" cy="254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51"/>
              </a:lnSpc>
            </a:pPr>
            <a:r>
              <a:rPr lang="en-US" b="true" sz="710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Semantic Plagiarism Detection for Academic Paper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71475" y="7819391"/>
            <a:ext cx="3102650" cy="10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2"/>
              </a:lnSpc>
            </a:pPr>
            <a:r>
              <a:rPr lang="en-US" sz="3051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Guided By:-</a:t>
            </a:r>
          </a:p>
          <a:p>
            <a:pPr algn="l">
              <a:lnSpc>
                <a:spcPts val="4272"/>
              </a:lnSpc>
              <a:spcBef>
                <a:spcPct val="0"/>
              </a:spcBef>
            </a:pPr>
            <a:r>
              <a:rPr lang="en-US" sz="3051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Dr. Harsha Bhute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81940" y="776832"/>
            <a:ext cx="1190712" cy="119071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10800000">
            <a:off x="1377296" y="-1122723"/>
            <a:ext cx="2417183" cy="3799108"/>
          </a:xfrm>
          <a:custGeom>
            <a:avLst/>
            <a:gdLst/>
            <a:ahLst/>
            <a:cxnLst/>
            <a:rect r="r" b="b" t="t" l="l"/>
            <a:pathLst>
              <a:path h="3799108" w="2417183">
                <a:moveTo>
                  <a:pt x="0" y="0"/>
                </a:moveTo>
                <a:lnTo>
                  <a:pt x="2417183" y="0"/>
                </a:lnTo>
                <a:lnTo>
                  <a:pt x="2417183" y="3799109"/>
                </a:lnTo>
                <a:lnTo>
                  <a:pt x="0" y="3799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77296" y="3418379"/>
            <a:ext cx="13522688" cy="1060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44"/>
              </a:lnSpc>
              <a:spcBef>
                <a:spcPct val="0"/>
              </a:spcBef>
            </a:pPr>
            <a:r>
              <a:rPr lang="en-US" sz="5889">
                <a:solidFill>
                  <a:srgbClr val="705C40"/>
                </a:solidFill>
                <a:latin typeface="Poppins"/>
                <a:ea typeface="Poppins"/>
                <a:cs typeface="Poppins"/>
                <a:sym typeface="Poppins"/>
              </a:rPr>
              <a:t>Natural Language Processing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83178" y="7737594"/>
            <a:ext cx="6555462" cy="157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2"/>
              </a:lnSpc>
            </a:pPr>
            <a:r>
              <a:rPr lang="en-US" sz="3051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Team Members:</a:t>
            </a:r>
          </a:p>
          <a:p>
            <a:pPr algn="l">
              <a:lnSpc>
                <a:spcPts val="4272"/>
              </a:lnSpc>
            </a:pPr>
            <a:r>
              <a:rPr lang="en-US" sz="3051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123B1F012 - Rutuja Bobade</a:t>
            </a:r>
          </a:p>
          <a:p>
            <a:pPr algn="l">
              <a:lnSpc>
                <a:spcPts val="4272"/>
              </a:lnSpc>
              <a:spcBef>
                <a:spcPct val="0"/>
              </a:spcBef>
            </a:pPr>
            <a:r>
              <a:rPr lang="en-US" sz="3051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123B1F057 - Sankarshan Mahamuni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9580" y="-319462"/>
            <a:ext cx="8607914" cy="10979045"/>
            <a:chOff x="0" y="0"/>
            <a:chExt cx="2267105" cy="289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7105" cy="2891600"/>
            </a:xfrm>
            <a:custGeom>
              <a:avLst/>
              <a:gdLst/>
              <a:ahLst/>
              <a:cxnLst/>
              <a:rect r="r" b="b" t="t" l="l"/>
              <a:pathLst>
                <a:path h="2891600" w="2267105">
                  <a:moveTo>
                    <a:pt x="0" y="0"/>
                  </a:moveTo>
                  <a:lnTo>
                    <a:pt x="2267105" y="0"/>
                  </a:lnTo>
                  <a:lnTo>
                    <a:pt x="2267105" y="2891600"/>
                  </a:lnTo>
                  <a:lnTo>
                    <a:pt x="0" y="28916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67105" cy="2939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2467" y="2556014"/>
            <a:ext cx="366233" cy="343277"/>
          </a:xfrm>
          <a:custGeom>
            <a:avLst/>
            <a:gdLst/>
            <a:ahLst/>
            <a:cxnLst/>
            <a:rect r="r" b="b" t="t" l="l"/>
            <a:pathLst>
              <a:path h="343277" w="366233">
                <a:moveTo>
                  <a:pt x="0" y="0"/>
                </a:moveTo>
                <a:lnTo>
                  <a:pt x="366233" y="0"/>
                </a:lnTo>
                <a:lnTo>
                  <a:pt x="366233" y="343276"/>
                </a:lnTo>
                <a:lnTo>
                  <a:pt x="0" y="34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6783460" y="8789538"/>
            <a:ext cx="10475840" cy="0"/>
          </a:xfrm>
          <a:prstGeom prst="line">
            <a:avLst/>
          </a:prstGeom>
          <a:ln cap="flat" w="38100">
            <a:solidFill>
              <a:srgbClr val="BCA3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1710351" y="1456814"/>
            <a:ext cx="5246370" cy="6448176"/>
            <a:chOff x="0" y="0"/>
            <a:chExt cx="812800" cy="9989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998991"/>
            </a:xfrm>
            <a:custGeom>
              <a:avLst/>
              <a:gdLst/>
              <a:ahLst/>
              <a:cxnLst/>
              <a:rect r="r" b="b" t="t" l="l"/>
              <a:pathLst>
                <a:path h="99899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98991"/>
                  </a:lnTo>
                  <a:lnTo>
                    <a:pt x="0" y="998991"/>
                  </a:lnTo>
                  <a:close/>
                </a:path>
              </a:pathLst>
            </a:custGeom>
            <a:blipFill>
              <a:blip r:embed="rId4"/>
              <a:stretch>
                <a:fillRect l="0" t="-851" r="0" b="-85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886309" y="769811"/>
            <a:ext cx="3086100" cy="1178743"/>
            <a:chOff x="0" y="0"/>
            <a:chExt cx="812800" cy="3104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310451"/>
            </a:xfrm>
            <a:custGeom>
              <a:avLst/>
              <a:gdLst/>
              <a:ahLst/>
              <a:cxnLst/>
              <a:rect r="r" b="b" t="t" l="l"/>
              <a:pathLst>
                <a:path h="3104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0451"/>
                  </a:lnTo>
                  <a:lnTo>
                    <a:pt x="0" y="310451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358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575647"/>
            <a:ext cx="6521896" cy="137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609"/>
              </a:lnSpc>
              <a:spcBef>
                <a:spcPct val="0"/>
              </a:spcBef>
            </a:pPr>
            <a:r>
              <a:rPr lang="en-US" b="true" sz="757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5105" y="2498864"/>
            <a:ext cx="8057332" cy="133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45"/>
              </a:lnSpc>
              <a:spcBef>
                <a:spcPct val="0"/>
              </a:spcBef>
            </a:pPr>
            <a:r>
              <a:rPr lang="en-US" sz="2532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Natural Language Processing (NLP) is a field of Artificial Intelligence that enables computers to understand, interpret, and process human language.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62467" y="4509264"/>
            <a:ext cx="366233" cy="343277"/>
          </a:xfrm>
          <a:custGeom>
            <a:avLst/>
            <a:gdLst/>
            <a:ahLst/>
            <a:cxnLst/>
            <a:rect r="r" b="b" t="t" l="l"/>
            <a:pathLst>
              <a:path h="343277" w="366233">
                <a:moveTo>
                  <a:pt x="0" y="0"/>
                </a:moveTo>
                <a:lnTo>
                  <a:pt x="366233" y="0"/>
                </a:lnTo>
                <a:lnTo>
                  <a:pt x="366233" y="343277"/>
                </a:lnTo>
                <a:lnTo>
                  <a:pt x="0" y="343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25105" y="4452114"/>
            <a:ext cx="8057332" cy="133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NLP has many real-world applications such as machine translation, chatbots, sentiment analysis, information retrieval, and plagiarism detection.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105" y="6407152"/>
            <a:ext cx="8057332" cy="133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I</a:t>
            </a:r>
            <a:r>
              <a:rPr lang="en-US" sz="252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n academic and research environments, plagiarism detection is important to maintain originality and academic integrity.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62467" y="6464302"/>
            <a:ext cx="366233" cy="343277"/>
          </a:xfrm>
          <a:custGeom>
            <a:avLst/>
            <a:gdLst/>
            <a:ahLst/>
            <a:cxnLst/>
            <a:rect r="r" b="b" t="t" l="l"/>
            <a:pathLst>
              <a:path h="343277" w="366233">
                <a:moveTo>
                  <a:pt x="0" y="0"/>
                </a:moveTo>
                <a:lnTo>
                  <a:pt x="366233" y="0"/>
                </a:lnTo>
                <a:lnTo>
                  <a:pt x="366233" y="343277"/>
                </a:lnTo>
                <a:lnTo>
                  <a:pt x="0" y="343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91152" y="-573068"/>
            <a:ext cx="11791077" cy="11240179"/>
            <a:chOff x="0" y="0"/>
            <a:chExt cx="3105469" cy="2960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5469" cy="2960376"/>
            </a:xfrm>
            <a:custGeom>
              <a:avLst/>
              <a:gdLst/>
              <a:ahLst/>
              <a:cxnLst/>
              <a:rect r="r" b="b" t="t" l="l"/>
              <a:pathLst>
                <a:path h="2960376" w="3105469">
                  <a:moveTo>
                    <a:pt x="0" y="0"/>
                  </a:moveTo>
                  <a:lnTo>
                    <a:pt x="3105469" y="0"/>
                  </a:lnTo>
                  <a:lnTo>
                    <a:pt x="3105469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105469" cy="30080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8550" y="3554030"/>
            <a:ext cx="5246370" cy="5733589"/>
            <a:chOff x="0" y="0"/>
            <a:chExt cx="812800" cy="8882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88283"/>
            </a:xfrm>
            <a:custGeom>
              <a:avLst/>
              <a:gdLst/>
              <a:ahLst/>
              <a:cxnLst/>
              <a:rect r="r" b="b" t="t" l="l"/>
              <a:pathLst>
                <a:path h="88828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88283"/>
                  </a:lnTo>
                  <a:lnTo>
                    <a:pt x="0" y="888283"/>
                  </a:lnTo>
                  <a:close/>
                </a:path>
              </a:pathLst>
            </a:custGeom>
            <a:blipFill>
              <a:blip r:embed="rId2"/>
              <a:stretch>
                <a:fillRect l="-32016" t="0" r="-32016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5400000">
            <a:off x="-3055246" y="7815037"/>
            <a:ext cx="7315200" cy="247973"/>
          </a:xfrm>
          <a:custGeom>
            <a:avLst/>
            <a:gdLst/>
            <a:ahLst/>
            <a:cxnLst/>
            <a:rect r="r" b="b" t="t" l="l"/>
            <a:pathLst>
              <a:path h="247973" w="7315200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62312" y="-869877"/>
            <a:ext cx="3251377" cy="2483239"/>
          </a:xfrm>
          <a:custGeom>
            <a:avLst/>
            <a:gdLst/>
            <a:ahLst/>
            <a:cxnLst/>
            <a:rect r="r" b="b" t="t" l="l"/>
            <a:pathLst>
              <a:path h="2483239" w="3251377">
                <a:moveTo>
                  <a:pt x="0" y="0"/>
                </a:moveTo>
                <a:lnTo>
                  <a:pt x="3251376" y="0"/>
                </a:lnTo>
                <a:lnTo>
                  <a:pt x="3251376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16941" y="4580761"/>
            <a:ext cx="9033560" cy="178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56"/>
              </a:lnSpc>
              <a:spcBef>
                <a:spcPct val="0"/>
              </a:spcBef>
            </a:pPr>
            <a:r>
              <a:rPr lang="en-US" sz="254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In semantic plagiarism, the meaning of the content remains the same while the wording is changed through paraphrasing, synonym replacement, or sentence restructuring.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16941" y="3248342"/>
            <a:ext cx="8842359" cy="88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  <a:spcBef>
                <a:spcPct val="0"/>
              </a:spcBef>
            </a:pPr>
            <a:r>
              <a:rPr lang="en-US" sz="253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These methods work well for exact text copying, but they fail to detect semantic plagiarism.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8550" y="685506"/>
            <a:ext cx="5979701" cy="238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86"/>
              </a:lnSpc>
            </a:pPr>
            <a:r>
              <a:rPr lang="en-US" b="true" sz="7822">
                <a:solidFill>
                  <a:srgbClr val="705C40"/>
                </a:solidFill>
                <a:latin typeface="Inter 1 Bold"/>
                <a:ea typeface="Inter 1 Bold"/>
                <a:cs typeface="Inter 1 Bold"/>
                <a:sym typeface="Inter 1 Bold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16941" y="1685892"/>
            <a:ext cx="9033560" cy="178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6"/>
              </a:lnSpc>
              <a:spcBef>
                <a:spcPct val="0"/>
              </a:spcBef>
            </a:pPr>
            <a:r>
              <a:rPr lang="en-US" sz="254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Traditional plagiarism detection systems rely mainly on lexical similarity techniques such as TF-IDF and keyword matching.</a:t>
            </a:r>
          </a:p>
          <a:p>
            <a:pPr algn="l" marL="0" indent="0" lvl="0">
              <a:lnSpc>
                <a:spcPts val="3556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7906733" y="1743042"/>
            <a:ext cx="225107" cy="22510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947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06733" y="3356673"/>
            <a:ext cx="225107" cy="22510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947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906733" y="4637911"/>
            <a:ext cx="225107" cy="22510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947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416941" y="6811530"/>
            <a:ext cx="8705530" cy="133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6"/>
              </a:lnSpc>
              <a:spcBef>
                <a:spcPct val="0"/>
              </a:spcBef>
            </a:pPr>
            <a:r>
              <a:rPr lang="en-US" sz="254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With the increasing use of AI writing and paraphrasing tools, detecting such plagiarism has become more challenging.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906733" y="6868680"/>
            <a:ext cx="225107" cy="22510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947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-476590"/>
            <a:ext cx="9225057" cy="11240179"/>
            <a:chOff x="0" y="0"/>
            <a:chExt cx="2429645" cy="2960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9645" cy="2960376"/>
            </a:xfrm>
            <a:custGeom>
              <a:avLst/>
              <a:gdLst/>
              <a:ahLst/>
              <a:cxnLst/>
              <a:rect r="r" b="b" t="t" l="l"/>
              <a:pathLst>
                <a:path h="2960376" w="2429645">
                  <a:moveTo>
                    <a:pt x="0" y="0"/>
                  </a:moveTo>
                  <a:lnTo>
                    <a:pt x="2429645" y="0"/>
                  </a:lnTo>
                  <a:lnTo>
                    <a:pt x="2429645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29645" cy="30080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82450" y="441515"/>
            <a:ext cx="4701985" cy="470198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8857" t="0" r="-3885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95206" y="4496092"/>
            <a:ext cx="3581382" cy="358138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8108" t="0" r="-6189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832979" y="6977009"/>
            <a:ext cx="2200929" cy="220092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6666" t="0" r="-16666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176175" y="8629924"/>
            <a:ext cx="865220" cy="86522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982142" y="9001360"/>
            <a:ext cx="1902376" cy="2989982"/>
          </a:xfrm>
          <a:custGeom>
            <a:avLst/>
            <a:gdLst/>
            <a:ahLst/>
            <a:cxnLst/>
            <a:rect r="r" b="b" t="t" l="l"/>
            <a:pathLst>
              <a:path h="2989982" w="1902376">
                <a:moveTo>
                  <a:pt x="0" y="0"/>
                </a:moveTo>
                <a:lnTo>
                  <a:pt x="1902376" y="0"/>
                </a:lnTo>
                <a:lnTo>
                  <a:pt x="1902376" y="2989981"/>
                </a:lnTo>
                <a:lnTo>
                  <a:pt x="0" y="29899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14075172" y="2158589"/>
            <a:ext cx="7315200" cy="247973"/>
          </a:xfrm>
          <a:custGeom>
            <a:avLst/>
            <a:gdLst/>
            <a:ahLst/>
            <a:cxnLst/>
            <a:rect r="r" b="b" t="t" l="l"/>
            <a:pathLst>
              <a:path h="247973" w="7315200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383783" y="279590"/>
            <a:ext cx="8792392" cy="144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92"/>
              </a:lnSpc>
            </a:pPr>
            <a:r>
              <a:rPr lang="en-US" b="true" sz="845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Motivation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64334" y="1667625"/>
            <a:ext cx="8929514" cy="813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4524" indent="-262262" lvl="1">
              <a:lnSpc>
                <a:spcPts val="3401"/>
              </a:lnSpc>
              <a:spcBef>
                <a:spcPct val="0"/>
              </a:spcBef>
              <a:buFont typeface="Arial"/>
              <a:buChar char="•"/>
            </a:pPr>
            <a:r>
              <a:rPr lang="en-US" sz="242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The rapid growth of digital research papers and online resources has increased the risk of plagiarism in academic writing.</a:t>
            </a:r>
          </a:p>
          <a:p>
            <a:pPr algn="just">
              <a:lnSpc>
                <a:spcPts val="3401"/>
              </a:lnSpc>
              <a:spcBef>
                <a:spcPct val="0"/>
              </a:spcBef>
            </a:pPr>
          </a:p>
          <a:p>
            <a:pPr algn="just" marL="524524" indent="-262262" lvl="1">
              <a:lnSpc>
                <a:spcPts val="3401"/>
              </a:lnSpc>
              <a:spcBef>
                <a:spcPct val="0"/>
              </a:spcBef>
              <a:buFont typeface="Arial"/>
              <a:buChar char="•"/>
            </a:pPr>
            <a:r>
              <a:rPr lang="en-US" sz="242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Modern tools such as AI writing assistants and paraphrasing tools allow users to easily rewrite content while keeping the same meaning.</a:t>
            </a:r>
          </a:p>
          <a:p>
            <a:pPr algn="just">
              <a:lnSpc>
                <a:spcPts val="3401"/>
              </a:lnSpc>
              <a:spcBef>
                <a:spcPct val="0"/>
              </a:spcBef>
            </a:pPr>
          </a:p>
          <a:p>
            <a:pPr algn="just" marL="524524" indent="-262262" lvl="1">
              <a:lnSpc>
                <a:spcPts val="3401"/>
              </a:lnSpc>
              <a:spcBef>
                <a:spcPct val="0"/>
              </a:spcBef>
              <a:buFont typeface="Arial"/>
              <a:buChar char="•"/>
            </a:pPr>
            <a:r>
              <a:rPr lang="en-US" sz="242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Traditional plagiarism detection systems mainly focus on exact word matching, making them ineffective against paraphrased or meaning-preserving plagiarism.</a:t>
            </a:r>
          </a:p>
          <a:p>
            <a:pPr algn="just">
              <a:lnSpc>
                <a:spcPts val="3401"/>
              </a:lnSpc>
              <a:spcBef>
                <a:spcPct val="0"/>
              </a:spcBef>
            </a:pPr>
          </a:p>
          <a:p>
            <a:pPr algn="just" marL="524524" indent="-262262" lvl="1">
              <a:lnSpc>
                <a:spcPts val="3401"/>
              </a:lnSpc>
              <a:spcBef>
                <a:spcPct val="0"/>
              </a:spcBef>
              <a:buFont typeface="Arial"/>
              <a:buChar char="•"/>
            </a:pPr>
            <a:r>
              <a:rPr lang="en-US" sz="242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Detecting such semantic plagiarism is essential to maintain academic integrity and research originality.</a:t>
            </a:r>
          </a:p>
          <a:p>
            <a:pPr algn="just">
              <a:lnSpc>
                <a:spcPts val="3401"/>
              </a:lnSpc>
              <a:spcBef>
                <a:spcPct val="0"/>
              </a:spcBef>
            </a:pPr>
          </a:p>
          <a:p>
            <a:pPr algn="just" marL="524524" indent="-262262" lvl="1">
              <a:lnSpc>
                <a:spcPts val="3401"/>
              </a:lnSpc>
              <a:spcBef>
                <a:spcPct val="0"/>
              </a:spcBef>
              <a:buFont typeface="Arial"/>
              <a:buChar char="•"/>
            </a:pPr>
            <a:r>
              <a:rPr lang="en-US" sz="242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This motivates the development of a semantic plagiarism detection system using advanced NLP techniques such as TF-IDF and Sentence-BERT.</a:t>
            </a:r>
          </a:p>
          <a:p>
            <a:pPr algn="just">
              <a:lnSpc>
                <a:spcPts val="340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25320" y="3275637"/>
            <a:ext cx="4233980" cy="8932726"/>
            <a:chOff x="0" y="0"/>
            <a:chExt cx="1115122" cy="2352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5122" cy="2352652"/>
            </a:xfrm>
            <a:custGeom>
              <a:avLst/>
              <a:gdLst/>
              <a:ahLst/>
              <a:cxnLst/>
              <a:rect r="r" b="b" t="t" l="l"/>
              <a:pathLst>
                <a:path h="2352652" w="1115122">
                  <a:moveTo>
                    <a:pt x="0" y="0"/>
                  </a:moveTo>
                  <a:lnTo>
                    <a:pt x="1115122" y="0"/>
                  </a:lnTo>
                  <a:lnTo>
                    <a:pt x="1115122" y="2352652"/>
                  </a:lnTo>
                  <a:lnTo>
                    <a:pt x="0" y="2352652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15122" cy="2400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953637" y="2701881"/>
            <a:ext cx="4233980" cy="5167289"/>
            <a:chOff x="0" y="0"/>
            <a:chExt cx="1115122" cy="13609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5122" cy="1360932"/>
            </a:xfrm>
            <a:custGeom>
              <a:avLst/>
              <a:gdLst/>
              <a:ahLst/>
              <a:cxnLst/>
              <a:rect r="r" b="b" t="t" l="l"/>
              <a:pathLst>
                <a:path h="1360932" w="1115122">
                  <a:moveTo>
                    <a:pt x="0" y="0"/>
                  </a:moveTo>
                  <a:lnTo>
                    <a:pt x="1115122" y="0"/>
                  </a:lnTo>
                  <a:lnTo>
                    <a:pt x="1115122" y="1360932"/>
                  </a:lnTo>
                  <a:lnTo>
                    <a:pt x="0" y="1360932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15122" cy="1408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03228" y="2422871"/>
            <a:ext cx="5246370" cy="6130348"/>
            <a:chOff x="0" y="0"/>
            <a:chExt cx="812800" cy="9497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949751"/>
            </a:xfrm>
            <a:custGeom>
              <a:avLst/>
              <a:gdLst/>
              <a:ahLst/>
              <a:cxnLst/>
              <a:rect r="r" b="b" t="t" l="l"/>
              <a:pathLst>
                <a:path h="9497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49751"/>
                  </a:lnTo>
                  <a:lnTo>
                    <a:pt x="0" y="949751"/>
                  </a:lnTo>
                  <a:close/>
                </a:path>
              </a:pathLst>
            </a:custGeom>
            <a:blipFill>
              <a:blip r:embed="rId2"/>
              <a:stretch>
                <a:fillRect l="0" t="-3487" r="0" b="-348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39583" y="2801303"/>
            <a:ext cx="698728" cy="69872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72"/>
                </a:lnSpc>
              </a:pPr>
              <a:r>
                <a:rPr lang="en-US" b="true" sz="2551">
                  <a:solidFill>
                    <a:srgbClr val="000000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39583" y="4414323"/>
            <a:ext cx="698728" cy="69872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72"/>
                </a:lnSpc>
              </a:pPr>
              <a:r>
                <a:rPr lang="en-US" b="true" sz="2551">
                  <a:solidFill>
                    <a:srgbClr val="000000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02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404228"/>
            <a:ext cx="12240089" cy="168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50"/>
              </a:lnSpc>
              <a:spcBef>
                <a:spcPct val="0"/>
              </a:spcBef>
            </a:pPr>
            <a:r>
              <a:rPr lang="en-US" b="true" sz="9321">
                <a:solidFill>
                  <a:srgbClr val="705C4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139583" y="6027450"/>
            <a:ext cx="698728" cy="69872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72"/>
                </a:lnSpc>
              </a:pPr>
              <a:r>
                <a:rPr lang="en-US" b="true" sz="2551">
                  <a:solidFill>
                    <a:srgbClr val="000000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03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838803" y="9258300"/>
            <a:ext cx="7315200" cy="247973"/>
          </a:xfrm>
          <a:custGeom>
            <a:avLst/>
            <a:gdLst/>
            <a:ahLst/>
            <a:cxnLst/>
            <a:rect r="r" b="b" t="t" l="l"/>
            <a:pathLst>
              <a:path h="247973" w="7315200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136855" y="2753678"/>
            <a:ext cx="6851847" cy="113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151">
                <a:solidFill>
                  <a:srgbClr val="705C40"/>
                </a:solidFill>
                <a:latin typeface="Inter 1"/>
                <a:ea typeface="Inter 1"/>
                <a:cs typeface="Inter 1"/>
                <a:sym typeface="Inter 1"/>
              </a:rPr>
              <a:t>To develop a semantic plagiarism detection system for research papers using a hybrid approach combining TF-IDF and Sentence-BERT.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36855" y="4366698"/>
            <a:ext cx="6724993" cy="113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151">
                <a:solidFill>
                  <a:srgbClr val="705C40"/>
                </a:solidFill>
                <a:latin typeface="Inter 1"/>
                <a:ea typeface="Inter 1"/>
                <a:cs typeface="Inter 1"/>
                <a:sym typeface="Inter 1"/>
              </a:rPr>
              <a:t>To detect paraphrased and meaning-preserving plagiarism by analyzing both lexical and contextual similarity.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36855" y="5979825"/>
            <a:ext cx="6851847" cy="113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151">
                <a:solidFill>
                  <a:srgbClr val="705C40"/>
                </a:solidFill>
                <a:latin typeface="Inter 1"/>
                <a:ea typeface="Inter 1"/>
                <a:cs typeface="Inter 1"/>
                <a:sym typeface="Inter 1"/>
              </a:rPr>
              <a:t>To generate explainable plagiarism reports by identifying similar sections and sentences in academic documents.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035297" y="-2378868"/>
            <a:ext cx="2618042" cy="4114800"/>
          </a:xfrm>
          <a:custGeom>
            <a:avLst/>
            <a:gdLst/>
            <a:ahLst/>
            <a:cxnLst/>
            <a:rect r="r" b="b" t="t" l="l"/>
            <a:pathLst>
              <a:path h="4114800" w="2618042">
                <a:moveTo>
                  <a:pt x="0" y="4114800"/>
                </a:moveTo>
                <a:lnTo>
                  <a:pt x="2618042" y="4114800"/>
                </a:lnTo>
                <a:lnTo>
                  <a:pt x="261804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028700" y="1922283"/>
          <a:ext cx="17261327" cy="8330108"/>
        </p:xfrm>
        <a:graphic>
          <a:graphicData uri="http://schemas.openxmlformats.org/presentationml/2006/ole">
            <p:oleObj imgW="20713700" imgH="11772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4600180" y="140479"/>
            <a:ext cx="9087640" cy="1395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43"/>
              </a:lnSpc>
              <a:spcBef>
                <a:spcPct val="0"/>
              </a:spcBef>
            </a:pPr>
            <a:r>
              <a:rPr lang="en-US" b="true" sz="767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Survey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45971"/>
            <a:ext cx="5067457" cy="6724001"/>
            <a:chOff x="0" y="0"/>
            <a:chExt cx="1334639" cy="17709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4639" cy="1770930"/>
            </a:xfrm>
            <a:custGeom>
              <a:avLst/>
              <a:gdLst/>
              <a:ahLst/>
              <a:cxnLst/>
              <a:rect r="r" b="b" t="t" l="l"/>
              <a:pathLst>
                <a:path h="1770930" w="1334639">
                  <a:moveTo>
                    <a:pt x="0" y="0"/>
                  </a:moveTo>
                  <a:lnTo>
                    <a:pt x="1334639" y="0"/>
                  </a:lnTo>
                  <a:lnTo>
                    <a:pt x="1334639" y="1770930"/>
                  </a:lnTo>
                  <a:lnTo>
                    <a:pt x="0" y="177093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34639" cy="1818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79274" y="2845971"/>
            <a:ext cx="5067457" cy="6724001"/>
            <a:chOff x="0" y="0"/>
            <a:chExt cx="1334639" cy="1770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4639" cy="1770930"/>
            </a:xfrm>
            <a:custGeom>
              <a:avLst/>
              <a:gdLst/>
              <a:ahLst/>
              <a:cxnLst/>
              <a:rect r="r" b="b" t="t" l="l"/>
              <a:pathLst>
                <a:path h="1770930" w="1334639">
                  <a:moveTo>
                    <a:pt x="0" y="0"/>
                  </a:moveTo>
                  <a:lnTo>
                    <a:pt x="1334639" y="0"/>
                  </a:lnTo>
                  <a:lnTo>
                    <a:pt x="1334639" y="1770930"/>
                  </a:lnTo>
                  <a:lnTo>
                    <a:pt x="0" y="1770930"/>
                  </a:lnTo>
                  <a:close/>
                </a:path>
              </a:pathLst>
            </a:custGeom>
            <a:solidFill>
              <a:srgbClr val="BCA37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34639" cy="1818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989667" y="954218"/>
            <a:ext cx="3086100" cy="1178743"/>
            <a:chOff x="0" y="0"/>
            <a:chExt cx="812800" cy="3104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10451"/>
            </a:xfrm>
            <a:custGeom>
              <a:avLst/>
              <a:gdLst/>
              <a:ahLst/>
              <a:cxnLst/>
              <a:rect r="r" b="b" t="t" l="l"/>
              <a:pathLst>
                <a:path h="3104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0451"/>
                  </a:lnTo>
                  <a:lnTo>
                    <a:pt x="0" y="310451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358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904159" y="-531680"/>
            <a:ext cx="3251377" cy="2483239"/>
          </a:xfrm>
          <a:custGeom>
            <a:avLst/>
            <a:gdLst/>
            <a:ahLst/>
            <a:cxnLst/>
            <a:rect r="r" b="b" t="t" l="l"/>
            <a:pathLst>
              <a:path h="2483239" w="3251377">
                <a:moveTo>
                  <a:pt x="0" y="0"/>
                </a:moveTo>
                <a:lnTo>
                  <a:pt x="3251377" y="0"/>
                </a:lnTo>
                <a:lnTo>
                  <a:pt x="3251377" y="2483239"/>
                </a:lnTo>
                <a:lnTo>
                  <a:pt x="0" y="24832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566634"/>
            <a:ext cx="9191291" cy="168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50"/>
              </a:lnSpc>
              <a:spcBef>
                <a:spcPct val="0"/>
              </a:spcBef>
            </a:pPr>
            <a:r>
              <a:rPr lang="en-US" b="true" sz="9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8826" y="3894577"/>
            <a:ext cx="4592962" cy="361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03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Research Paper are collected from open access academic repositories including -</a:t>
            </a:r>
          </a:p>
          <a:p>
            <a:pPr algn="l" marL="439634" indent="-219817" lvl="1">
              <a:lnSpc>
                <a:spcPts val="2850"/>
              </a:lnSpc>
              <a:buFont typeface="Arial"/>
              <a:buChar char="•"/>
            </a:pPr>
            <a:r>
              <a:rPr lang="en-US" sz="203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IEEE Xplore - engineering and computing journals</a:t>
            </a:r>
          </a:p>
          <a:p>
            <a:pPr algn="l" marL="439634" indent="-219817" lvl="1">
              <a:lnSpc>
                <a:spcPts val="2850"/>
              </a:lnSpc>
              <a:buFont typeface="Arial"/>
              <a:buChar char="•"/>
            </a:pPr>
            <a:r>
              <a:rPr lang="en-US" sz="203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ACM Digital Library - computer science and journal papers</a:t>
            </a:r>
          </a:p>
          <a:p>
            <a:pPr algn="l" marL="439634" indent="-219817" lvl="1">
              <a:lnSpc>
                <a:spcPts val="2850"/>
              </a:lnSpc>
              <a:buFont typeface="Arial"/>
              <a:buChar char="•"/>
            </a:pPr>
            <a:r>
              <a:rPr lang="en-US" sz="203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arXiv - widely used for CS preprints</a:t>
            </a:r>
          </a:p>
          <a:p>
            <a:pPr algn="l" marL="0" indent="0" lvl="0">
              <a:lnSpc>
                <a:spcPts val="285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252426" y="4144595"/>
            <a:ext cx="4123834" cy="433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634" indent="-219817" lvl="1">
              <a:lnSpc>
                <a:spcPts val="2850"/>
              </a:lnSpc>
              <a:buFont typeface="Arial"/>
              <a:buChar char="•"/>
            </a:pPr>
            <a:r>
              <a:rPr lang="en-US" sz="2036">
                <a:solidFill>
                  <a:srgbClr val="FFFFFF"/>
                </a:solidFill>
                <a:latin typeface="Inter 1"/>
                <a:ea typeface="Inter 1"/>
                <a:cs typeface="Inter 1"/>
                <a:sym typeface="Inter 1"/>
              </a:rPr>
              <a:t> TF-IDF : Checks Lexical similarity among the research papers</a:t>
            </a:r>
          </a:p>
          <a:p>
            <a:pPr algn="l">
              <a:lnSpc>
                <a:spcPts val="2850"/>
              </a:lnSpc>
            </a:pPr>
          </a:p>
          <a:p>
            <a:pPr algn="l" marL="439634" indent="-219817" lvl="1">
              <a:lnSpc>
                <a:spcPts val="2850"/>
              </a:lnSpc>
              <a:buFont typeface="Arial"/>
              <a:buChar char="•"/>
            </a:pPr>
            <a:r>
              <a:rPr lang="en-US" sz="2036">
                <a:solidFill>
                  <a:srgbClr val="FFFFFF"/>
                </a:solidFill>
                <a:latin typeface="Inter 1"/>
                <a:ea typeface="Inter 1"/>
                <a:cs typeface="Inter 1"/>
                <a:sym typeface="Inter 1"/>
              </a:rPr>
              <a:t>Sentence Bert: Checks Contextual similarity using embedding generated     (Built on BERT)</a:t>
            </a:r>
          </a:p>
          <a:p>
            <a:pPr algn="l">
              <a:lnSpc>
                <a:spcPts val="2850"/>
              </a:lnSpc>
            </a:pPr>
          </a:p>
          <a:p>
            <a:pPr algn="l" marL="439634" indent="-219817" lvl="1">
              <a:lnSpc>
                <a:spcPts val="2850"/>
              </a:lnSpc>
              <a:buFont typeface="Arial"/>
              <a:buChar char="•"/>
            </a:pPr>
            <a:r>
              <a:rPr lang="en-US" sz="2036">
                <a:solidFill>
                  <a:srgbClr val="FFFFFF"/>
                </a:solidFill>
                <a:latin typeface="Inter 1"/>
                <a:ea typeface="Inter 1"/>
                <a:cs typeface="Inter 1"/>
                <a:sym typeface="Inter 1"/>
              </a:rPr>
              <a:t> FAISS for efficient retrieval of embeddings stored by sentence bert.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3390" y="2974123"/>
            <a:ext cx="4123834" cy="66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0"/>
              </a:lnSpc>
              <a:spcBef>
                <a:spcPct val="0"/>
              </a:spcBef>
            </a:pPr>
            <a:r>
              <a:rPr lang="en-US" b="true" sz="3836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Dataset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51085" y="2974123"/>
            <a:ext cx="4123834" cy="66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0"/>
              </a:lnSpc>
              <a:spcBef>
                <a:spcPct val="0"/>
              </a:spcBef>
            </a:pPr>
            <a:r>
              <a:rPr lang="en-US" b="true" sz="3836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Frameworks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561105" y="2845971"/>
            <a:ext cx="5067457" cy="6724001"/>
            <a:chOff x="0" y="0"/>
            <a:chExt cx="1334639" cy="17709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4639" cy="1770930"/>
            </a:xfrm>
            <a:custGeom>
              <a:avLst/>
              <a:gdLst/>
              <a:ahLst/>
              <a:cxnLst/>
              <a:rect r="r" b="b" t="t" l="l"/>
              <a:pathLst>
                <a:path h="1770930" w="1334639">
                  <a:moveTo>
                    <a:pt x="0" y="0"/>
                  </a:moveTo>
                  <a:lnTo>
                    <a:pt x="1334639" y="0"/>
                  </a:lnTo>
                  <a:lnTo>
                    <a:pt x="1334639" y="1770930"/>
                  </a:lnTo>
                  <a:lnTo>
                    <a:pt x="0" y="177093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34639" cy="1818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58826" y="7452741"/>
            <a:ext cx="4592962" cy="180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</a:pPr>
            <a:r>
              <a:rPr lang="en-US" sz="203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~500-600 research paper focusing on the </a:t>
            </a:r>
            <a:r>
              <a:rPr lang="en-US" sz="203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domains of data science , AI, ML software engineering, and other computer science related fields.</a:t>
            </a:r>
          </a:p>
          <a:p>
            <a:pPr algn="l">
              <a:lnSpc>
                <a:spcPts val="2855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2532530" y="2974123"/>
            <a:ext cx="5067457" cy="66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0"/>
              </a:lnSpc>
              <a:spcBef>
                <a:spcPct val="0"/>
              </a:spcBef>
            </a:pPr>
            <a:r>
              <a:rPr lang="en-US" b="true" sz="3836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Text Preprocessing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70655" y="3894577"/>
            <a:ext cx="4592962" cy="506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634" indent="-219817" lvl="1">
              <a:lnSpc>
                <a:spcPts val="2850"/>
              </a:lnSpc>
              <a:buAutoNum type="arabicPeriod" startAt="1"/>
            </a:pPr>
            <a:r>
              <a:rPr lang="en-US" sz="203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Lowercasing - Normalizing the text to remove ambiguity among capital and lowercase words.</a:t>
            </a:r>
          </a:p>
          <a:p>
            <a:pPr algn="l" marL="439634" indent="-219817" lvl="1">
              <a:lnSpc>
                <a:spcPts val="2850"/>
              </a:lnSpc>
              <a:buAutoNum type="arabicPeriod" startAt="1"/>
            </a:pPr>
            <a:r>
              <a:rPr lang="en-US" sz="203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Tokenization - Splitting of texts into words.</a:t>
            </a:r>
          </a:p>
          <a:p>
            <a:pPr algn="l" marL="439634" indent="-219817" lvl="1">
              <a:lnSpc>
                <a:spcPts val="2850"/>
              </a:lnSpc>
              <a:buAutoNum type="arabicPeriod" startAt="1"/>
            </a:pPr>
            <a:r>
              <a:rPr lang="en-US" sz="203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Stopword removal - Removal of words which don't change the semantic mean</a:t>
            </a:r>
            <a:r>
              <a:rPr lang="en-US" sz="203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ing.</a:t>
            </a:r>
          </a:p>
          <a:p>
            <a:pPr algn="l" marL="439634" indent="-219817" lvl="1">
              <a:lnSpc>
                <a:spcPts val="2850"/>
              </a:lnSpc>
              <a:buAutoNum type="arabicPeriod" startAt="1"/>
            </a:pPr>
            <a:r>
              <a:rPr lang="en-US" sz="203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Lemmatization - Convert the words into their base form.</a:t>
            </a:r>
          </a:p>
          <a:p>
            <a:pPr algn="l" marL="439634" indent="-219817" lvl="1">
              <a:lnSpc>
                <a:spcPts val="2850"/>
              </a:lnSpc>
              <a:buAutoNum type="arabicPeriod" startAt="1"/>
            </a:pPr>
            <a:r>
              <a:rPr lang="en-US" sz="203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Noise Removal - Removal of references and the equations in the paper.</a:t>
            </a:r>
          </a:p>
          <a:p>
            <a:pPr algn="l">
              <a:lnSpc>
                <a:spcPts val="28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988775"/>
            <a:ext cx="9875459" cy="7066163"/>
            <a:chOff x="0" y="0"/>
            <a:chExt cx="2600944" cy="1861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0944" cy="1861047"/>
            </a:xfrm>
            <a:custGeom>
              <a:avLst/>
              <a:gdLst/>
              <a:ahLst/>
              <a:cxnLst/>
              <a:rect r="r" b="b" t="t" l="l"/>
              <a:pathLst>
                <a:path h="1861047" w="2600944">
                  <a:moveTo>
                    <a:pt x="0" y="0"/>
                  </a:moveTo>
                  <a:lnTo>
                    <a:pt x="2600944" y="0"/>
                  </a:lnTo>
                  <a:lnTo>
                    <a:pt x="2600944" y="1861047"/>
                  </a:lnTo>
                  <a:lnTo>
                    <a:pt x="0" y="1861047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00944" cy="1908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93278" y="3048635"/>
            <a:ext cx="7170974" cy="2774284"/>
            <a:chOff x="0" y="0"/>
            <a:chExt cx="1888651" cy="7306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8651" cy="730676"/>
            </a:xfrm>
            <a:custGeom>
              <a:avLst/>
              <a:gdLst/>
              <a:ahLst/>
              <a:cxnLst/>
              <a:rect r="r" b="b" t="t" l="l"/>
              <a:pathLst>
                <a:path h="730676" w="1888651">
                  <a:moveTo>
                    <a:pt x="0" y="0"/>
                  </a:moveTo>
                  <a:lnTo>
                    <a:pt x="1888651" y="0"/>
                  </a:lnTo>
                  <a:lnTo>
                    <a:pt x="1888651" y="730676"/>
                  </a:lnTo>
                  <a:lnTo>
                    <a:pt x="0" y="7306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88651" cy="778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989667" y="954218"/>
            <a:ext cx="3086100" cy="1178743"/>
            <a:chOff x="0" y="0"/>
            <a:chExt cx="812800" cy="3104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10451"/>
            </a:xfrm>
            <a:custGeom>
              <a:avLst/>
              <a:gdLst/>
              <a:ahLst/>
              <a:cxnLst/>
              <a:rect r="r" b="b" t="t" l="l"/>
              <a:pathLst>
                <a:path h="3104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0451"/>
                  </a:lnTo>
                  <a:lnTo>
                    <a:pt x="0" y="310451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358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904159" y="-531680"/>
            <a:ext cx="3251377" cy="2483239"/>
          </a:xfrm>
          <a:custGeom>
            <a:avLst/>
            <a:gdLst/>
            <a:ahLst/>
            <a:cxnLst/>
            <a:rect r="r" b="b" t="t" l="l"/>
            <a:pathLst>
              <a:path h="2483239" w="3251377">
                <a:moveTo>
                  <a:pt x="0" y="0"/>
                </a:moveTo>
                <a:lnTo>
                  <a:pt x="3251377" y="0"/>
                </a:lnTo>
                <a:lnTo>
                  <a:pt x="3251377" y="2483239"/>
                </a:lnTo>
                <a:lnTo>
                  <a:pt x="0" y="24832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04457" y="4598639"/>
            <a:ext cx="10123945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TF(t,</a:t>
            </a: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d)= Total number of terms in document t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Number of occurrences of term d</a:t>
            </a:r>
          </a:p>
        </p:txBody>
      </p:sp>
      <p:sp>
        <p:nvSpPr>
          <p:cNvPr name="AutoShape 13" id="13"/>
          <p:cNvSpPr/>
          <p:nvPr/>
        </p:nvSpPr>
        <p:spPr>
          <a:xfrm>
            <a:off x="3575693" y="51244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3171382" y="6910294"/>
            <a:ext cx="5315570" cy="1063114"/>
          </a:xfrm>
          <a:custGeom>
            <a:avLst/>
            <a:gdLst/>
            <a:ahLst/>
            <a:cxnLst/>
            <a:rect r="r" b="b" t="t" l="l"/>
            <a:pathLst>
              <a:path h="1063114" w="5315570">
                <a:moveTo>
                  <a:pt x="0" y="0"/>
                </a:moveTo>
                <a:lnTo>
                  <a:pt x="5315569" y="0"/>
                </a:lnTo>
                <a:lnTo>
                  <a:pt x="5315569" y="1063114"/>
                </a:lnTo>
                <a:lnTo>
                  <a:pt x="0" y="1063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623784"/>
            <a:ext cx="15660564" cy="131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72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Representation (TF-IDF)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5473" y="3203258"/>
            <a:ext cx="9247387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Step 1 : Text Preprocessing and Tokenization 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3678" y="3898869"/>
            <a:ext cx="7177802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Step 2: Term Frequency Calcualtion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5473" y="5737194"/>
            <a:ext cx="8862460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Step 3: Inverse Document Frequency (IDF) 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  </a:t>
            </a: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Calculation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3678" y="8246145"/>
            <a:ext cx="6796683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Step 4: TF-IDF Score Computation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50035" y="8964965"/>
            <a:ext cx="515826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TF-IDF(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t,d)=TF(t,d)×IDF(t)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24416" y="3203258"/>
            <a:ext cx="6743821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Step 4: Vector Representation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20431" y="3994206"/>
            <a:ext cx="6069730" cy="1609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4"/>
              </a:lnSpc>
              <a:spcBef>
                <a:spcPct val="0"/>
              </a:spcBef>
            </a:pPr>
            <a:r>
              <a:rPr lang="en-US" sz="22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document is converted into a numerical vector where every value represents the TF-IDF score of a word from the vocabulary.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424416" y="6521856"/>
            <a:ext cx="7139835" cy="2914046"/>
            <a:chOff x="0" y="0"/>
            <a:chExt cx="1880450" cy="76748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80450" cy="767485"/>
            </a:xfrm>
            <a:custGeom>
              <a:avLst/>
              <a:gdLst/>
              <a:ahLst/>
              <a:cxnLst/>
              <a:rect r="r" b="b" t="t" l="l"/>
              <a:pathLst>
                <a:path h="767485" w="1880450">
                  <a:moveTo>
                    <a:pt x="0" y="0"/>
                  </a:moveTo>
                  <a:lnTo>
                    <a:pt x="1880450" y="0"/>
                  </a:lnTo>
                  <a:lnTo>
                    <a:pt x="1880450" y="767485"/>
                  </a:lnTo>
                  <a:lnTo>
                    <a:pt x="0" y="767485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880450" cy="81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1938369" y="7540008"/>
            <a:ext cx="5951792" cy="1583724"/>
          </a:xfrm>
          <a:custGeom>
            <a:avLst/>
            <a:gdLst/>
            <a:ahLst/>
            <a:cxnLst/>
            <a:rect r="r" b="b" t="t" l="l"/>
            <a:pathLst>
              <a:path h="1583724" w="5951792">
                <a:moveTo>
                  <a:pt x="0" y="0"/>
                </a:moveTo>
                <a:lnTo>
                  <a:pt x="5951792" y="0"/>
                </a:lnTo>
                <a:lnTo>
                  <a:pt x="5951792" y="1583724"/>
                </a:lnTo>
                <a:lnTo>
                  <a:pt x="0" y="1583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687" r="0" b="-3687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393278" y="6779864"/>
            <a:ext cx="6743821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Step 5: Similarity Calculation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9949" y="2802191"/>
            <a:ext cx="7674231" cy="6861110"/>
          </a:xfrm>
          <a:custGeom>
            <a:avLst/>
            <a:gdLst/>
            <a:ahLst/>
            <a:cxnLst/>
            <a:rect r="r" b="b" t="t" l="l"/>
            <a:pathLst>
              <a:path h="6861110" w="7674231">
                <a:moveTo>
                  <a:pt x="0" y="0"/>
                </a:moveTo>
                <a:lnTo>
                  <a:pt x="7674231" y="0"/>
                </a:lnTo>
                <a:lnTo>
                  <a:pt x="7674231" y="6861110"/>
                </a:lnTo>
                <a:lnTo>
                  <a:pt x="0" y="686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438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802191"/>
            <a:ext cx="6182464" cy="5504744"/>
          </a:xfrm>
          <a:custGeom>
            <a:avLst/>
            <a:gdLst/>
            <a:ahLst/>
            <a:cxnLst/>
            <a:rect r="r" b="b" t="t" l="l"/>
            <a:pathLst>
              <a:path h="5504744" w="6182464">
                <a:moveTo>
                  <a:pt x="0" y="0"/>
                </a:moveTo>
                <a:lnTo>
                  <a:pt x="6182464" y="0"/>
                </a:lnTo>
                <a:lnTo>
                  <a:pt x="6182464" y="5504744"/>
                </a:lnTo>
                <a:lnTo>
                  <a:pt x="0" y="55047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5634629" y="5318183"/>
            <a:ext cx="3509371" cy="17617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558722" y="7747405"/>
            <a:ext cx="6217438" cy="2415869"/>
          </a:xfrm>
          <a:custGeom>
            <a:avLst/>
            <a:gdLst/>
            <a:ahLst/>
            <a:cxnLst/>
            <a:rect r="r" b="b" t="t" l="l"/>
            <a:pathLst>
              <a:path h="2415869" w="6217438">
                <a:moveTo>
                  <a:pt x="0" y="0"/>
                </a:moveTo>
                <a:lnTo>
                  <a:pt x="6217438" y="0"/>
                </a:lnTo>
                <a:lnTo>
                  <a:pt x="6217438" y="2415869"/>
                </a:lnTo>
                <a:lnTo>
                  <a:pt x="0" y="2415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14" t="-722" r="0" b="-72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90389" y="51711"/>
            <a:ext cx="12093525" cy="168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50"/>
              </a:lnSpc>
              <a:spcBef>
                <a:spcPct val="0"/>
              </a:spcBef>
            </a:pPr>
            <a:r>
              <a:rPr lang="en-US" b="true" sz="9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BERT Architecture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662312" y="-184381"/>
            <a:ext cx="3251377" cy="2483239"/>
          </a:xfrm>
          <a:custGeom>
            <a:avLst/>
            <a:gdLst/>
            <a:ahLst/>
            <a:cxnLst/>
            <a:rect r="r" b="b" t="t" l="l"/>
            <a:pathLst>
              <a:path h="2483239" w="3251377">
                <a:moveTo>
                  <a:pt x="0" y="0"/>
                </a:moveTo>
                <a:lnTo>
                  <a:pt x="3251376" y="0"/>
                </a:lnTo>
                <a:lnTo>
                  <a:pt x="3251376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627062" y="-184381"/>
            <a:ext cx="3251377" cy="2483239"/>
          </a:xfrm>
          <a:custGeom>
            <a:avLst/>
            <a:gdLst/>
            <a:ahLst/>
            <a:cxnLst/>
            <a:rect r="r" b="b" t="t" l="l"/>
            <a:pathLst>
              <a:path h="2483239" w="3251377">
                <a:moveTo>
                  <a:pt x="0" y="0"/>
                </a:moveTo>
                <a:lnTo>
                  <a:pt x="3251377" y="0"/>
                </a:lnTo>
                <a:lnTo>
                  <a:pt x="3251377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123" y="2069604"/>
            <a:ext cx="6491146" cy="6908008"/>
          </a:xfrm>
          <a:custGeom>
            <a:avLst/>
            <a:gdLst/>
            <a:ahLst/>
            <a:cxnLst/>
            <a:rect r="r" b="b" t="t" l="l"/>
            <a:pathLst>
              <a:path h="6908008" w="6491146">
                <a:moveTo>
                  <a:pt x="0" y="0"/>
                </a:moveTo>
                <a:lnTo>
                  <a:pt x="6491146" y="0"/>
                </a:lnTo>
                <a:lnTo>
                  <a:pt x="6491146" y="6908009"/>
                </a:lnTo>
                <a:lnTo>
                  <a:pt x="0" y="69080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87774" y="5849949"/>
            <a:ext cx="7170974" cy="2774284"/>
            <a:chOff x="0" y="0"/>
            <a:chExt cx="1888651" cy="7306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88651" cy="730676"/>
            </a:xfrm>
            <a:custGeom>
              <a:avLst/>
              <a:gdLst/>
              <a:ahLst/>
              <a:cxnLst/>
              <a:rect r="r" b="b" t="t" l="l"/>
              <a:pathLst>
                <a:path h="730676" w="1888651">
                  <a:moveTo>
                    <a:pt x="0" y="0"/>
                  </a:moveTo>
                  <a:lnTo>
                    <a:pt x="1888651" y="0"/>
                  </a:lnTo>
                  <a:lnTo>
                    <a:pt x="1888651" y="730676"/>
                  </a:lnTo>
                  <a:lnTo>
                    <a:pt x="0" y="7306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888651" cy="778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131984" y="6418600"/>
            <a:ext cx="6082554" cy="157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72"/>
              </a:lnSpc>
              <a:spcBef>
                <a:spcPct val="0"/>
              </a:spcBef>
            </a:pPr>
            <a:r>
              <a:rPr lang="en-US" sz="3051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Pooling combines multiple token vectors into a single sentence vector.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87774" y="2369216"/>
            <a:ext cx="7170974" cy="2774284"/>
            <a:chOff x="0" y="0"/>
            <a:chExt cx="1888651" cy="7306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8651" cy="730676"/>
            </a:xfrm>
            <a:custGeom>
              <a:avLst/>
              <a:gdLst/>
              <a:ahLst/>
              <a:cxnLst/>
              <a:rect r="r" b="b" t="t" l="l"/>
              <a:pathLst>
                <a:path h="730676" w="1888651">
                  <a:moveTo>
                    <a:pt x="0" y="0"/>
                  </a:moveTo>
                  <a:lnTo>
                    <a:pt x="1888651" y="0"/>
                  </a:lnTo>
                  <a:lnTo>
                    <a:pt x="1888651" y="730676"/>
                  </a:lnTo>
                  <a:lnTo>
                    <a:pt x="0" y="7306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88651" cy="778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865300" y="3110627"/>
            <a:ext cx="6615921" cy="158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2"/>
              </a:lnSpc>
              <a:spcBef>
                <a:spcPct val="0"/>
              </a:spcBef>
            </a:pPr>
            <a:r>
              <a:rPr lang="en-US" sz="29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BERT produces embeddings for each token (word), not for the entire sentence.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85221" y="51711"/>
            <a:ext cx="12093525" cy="168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50"/>
              </a:lnSpc>
              <a:spcBef>
                <a:spcPct val="0"/>
              </a:spcBef>
            </a:pPr>
            <a:r>
              <a:rPr lang="en-US" b="true" sz="9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SBERT Architecture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1627062" y="-184381"/>
            <a:ext cx="3251377" cy="2483239"/>
          </a:xfrm>
          <a:custGeom>
            <a:avLst/>
            <a:gdLst/>
            <a:ahLst/>
            <a:cxnLst/>
            <a:rect r="r" b="b" t="t" l="l"/>
            <a:pathLst>
              <a:path h="2483239" w="3251377">
                <a:moveTo>
                  <a:pt x="0" y="0"/>
                </a:moveTo>
                <a:lnTo>
                  <a:pt x="3251377" y="0"/>
                </a:lnTo>
                <a:lnTo>
                  <a:pt x="3251377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662312" y="-184381"/>
            <a:ext cx="3251377" cy="2483239"/>
          </a:xfrm>
          <a:custGeom>
            <a:avLst/>
            <a:gdLst/>
            <a:ahLst/>
            <a:cxnLst/>
            <a:rect r="r" b="b" t="t" l="l"/>
            <a:pathLst>
              <a:path h="2483239" w="3251377">
                <a:moveTo>
                  <a:pt x="0" y="0"/>
                </a:moveTo>
                <a:lnTo>
                  <a:pt x="3251376" y="0"/>
                </a:lnTo>
                <a:lnTo>
                  <a:pt x="3251376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425758" y="4103274"/>
          <a:ext cx="15912676" cy="2888707"/>
        </p:xfrm>
        <a:graphic>
          <a:graphicData uri="http://schemas.openxmlformats.org/drawingml/2006/table">
            <a:tbl>
              <a:tblPr/>
              <a:tblGrid>
                <a:gridCol w="3242791"/>
                <a:gridCol w="3242791"/>
                <a:gridCol w="3428192"/>
                <a:gridCol w="3057389"/>
                <a:gridCol w="2941513"/>
              </a:tblGrid>
              <a:tr h="13379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87"/>
                        </a:lnSpc>
                        <a:defRPr/>
                      </a:pPr>
                      <a:r>
                        <a:rPr lang="en-US" sz="3348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Abstract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6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87"/>
                        </a:lnSpc>
                        <a:defRPr/>
                      </a:pPr>
                      <a:r>
                        <a:rPr lang="en-US" sz="3348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Introduction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6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87"/>
                        </a:lnSpc>
                        <a:defRPr/>
                      </a:pPr>
                      <a:r>
                        <a:rPr lang="en-US" sz="3348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Methodology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6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87"/>
                        </a:lnSpc>
                        <a:defRPr/>
                      </a:pPr>
                      <a:r>
                        <a:rPr lang="en-US" sz="3348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Conclusion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6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87"/>
                        </a:lnSpc>
                        <a:defRPr/>
                      </a:pPr>
                      <a:r>
                        <a:rPr lang="en-US" sz="3348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Results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6B8"/>
                    </a:solidFill>
                  </a:tcPr>
                </a:tc>
              </a:tr>
              <a:tr h="15508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547"/>
                        </a:lnSpc>
                        <a:defRPr/>
                      </a:pPr>
                      <a:r>
                        <a:rPr lang="en-US" sz="3248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15%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EA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A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A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547"/>
                        </a:lnSpc>
                        <a:defRPr/>
                      </a:pPr>
                      <a:r>
                        <a:rPr lang="en-US" sz="3248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15%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EA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A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A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547"/>
                        </a:lnSpc>
                        <a:defRPr/>
                      </a:pPr>
                      <a:r>
                        <a:rPr lang="en-US" sz="3248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35%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EA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A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A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547"/>
                        </a:lnSpc>
                        <a:defRPr/>
                      </a:pPr>
                      <a:r>
                        <a:rPr lang="en-US" sz="3248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10%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EA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A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A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547"/>
                        </a:lnSpc>
                        <a:defRPr/>
                      </a:pPr>
                      <a:r>
                        <a:rPr lang="en-US" sz="3248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25%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EA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A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A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A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-514350" y="9641964"/>
            <a:ext cx="19326728" cy="1317676"/>
            <a:chOff x="0" y="0"/>
            <a:chExt cx="5090167" cy="3470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90167" cy="347042"/>
            </a:xfrm>
            <a:custGeom>
              <a:avLst/>
              <a:gdLst/>
              <a:ahLst/>
              <a:cxnLst/>
              <a:rect r="r" b="b" t="t" l="l"/>
              <a:pathLst>
                <a:path h="347042" w="5090167">
                  <a:moveTo>
                    <a:pt x="0" y="0"/>
                  </a:moveTo>
                  <a:lnTo>
                    <a:pt x="5090167" y="0"/>
                  </a:lnTo>
                  <a:lnTo>
                    <a:pt x="5090167" y="347042"/>
                  </a:lnTo>
                  <a:lnTo>
                    <a:pt x="0" y="347042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090167" cy="394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662312" y="-184381"/>
            <a:ext cx="3251377" cy="2483239"/>
          </a:xfrm>
          <a:custGeom>
            <a:avLst/>
            <a:gdLst/>
            <a:ahLst/>
            <a:cxnLst/>
            <a:rect r="r" b="b" t="t" l="l"/>
            <a:pathLst>
              <a:path h="2483239" w="3251377">
                <a:moveTo>
                  <a:pt x="0" y="0"/>
                </a:moveTo>
                <a:lnTo>
                  <a:pt x="3251376" y="0"/>
                </a:lnTo>
                <a:lnTo>
                  <a:pt x="3251376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27062" y="-184381"/>
            <a:ext cx="3251377" cy="2483239"/>
          </a:xfrm>
          <a:custGeom>
            <a:avLst/>
            <a:gdLst/>
            <a:ahLst/>
            <a:cxnLst/>
            <a:rect r="r" b="b" t="t" l="l"/>
            <a:pathLst>
              <a:path h="2483239" w="3251377">
                <a:moveTo>
                  <a:pt x="0" y="0"/>
                </a:moveTo>
                <a:lnTo>
                  <a:pt x="3251377" y="0"/>
                </a:lnTo>
                <a:lnTo>
                  <a:pt x="3251377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7662" y="7373999"/>
            <a:ext cx="5951792" cy="1583724"/>
          </a:xfrm>
          <a:custGeom>
            <a:avLst/>
            <a:gdLst/>
            <a:ahLst/>
            <a:cxnLst/>
            <a:rect r="r" b="b" t="t" l="l"/>
            <a:pathLst>
              <a:path h="1583724" w="5951792">
                <a:moveTo>
                  <a:pt x="0" y="0"/>
                </a:moveTo>
                <a:lnTo>
                  <a:pt x="5951792" y="0"/>
                </a:lnTo>
                <a:lnTo>
                  <a:pt x="5951792" y="1583723"/>
                </a:lnTo>
                <a:lnTo>
                  <a:pt x="0" y="158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687" r="0" b="-368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58173" y="7476301"/>
            <a:ext cx="2304139" cy="1379120"/>
          </a:xfrm>
          <a:custGeom>
            <a:avLst/>
            <a:gdLst/>
            <a:ahLst/>
            <a:cxnLst/>
            <a:rect r="r" b="b" t="t" l="l"/>
            <a:pathLst>
              <a:path h="1379120" w="2304139">
                <a:moveTo>
                  <a:pt x="0" y="0"/>
                </a:moveTo>
                <a:lnTo>
                  <a:pt x="2304139" y="0"/>
                </a:lnTo>
                <a:lnTo>
                  <a:pt x="2304139" y="1379119"/>
                </a:lnTo>
                <a:lnTo>
                  <a:pt x="0" y="13791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47529" y="895314"/>
            <a:ext cx="13591569" cy="100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31"/>
              </a:lnSpc>
              <a:spcBef>
                <a:spcPct val="0"/>
              </a:spcBef>
            </a:pPr>
            <a:r>
              <a:rPr lang="en-US" b="true" sz="5522">
                <a:solidFill>
                  <a:srgbClr val="705C40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Weighted Similarity Scoring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82096" y="7830522"/>
            <a:ext cx="4529127" cy="60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6"/>
              </a:lnSpc>
            </a:pPr>
            <a:r>
              <a:rPr lang="en-US" sz="352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  Plagiarism =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5324" y="2609535"/>
            <a:ext cx="15833542" cy="88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2"/>
              </a:lnSpc>
              <a:spcBef>
                <a:spcPct val="0"/>
              </a:spcBef>
            </a:pPr>
            <a:r>
              <a:rPr lang="en-US" sz="2551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Different research paper sections vary in originality requirements. Predefined weights emphasize critical sections like methodology and results, which should have higher uniqueness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09139" y="471708"/>
            <a:ext cx="20106278" cy="3995575"/>
            <a:chOff x="0" y="0"/>
            <a:chExt cx="5295481" cy="1052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95481" cy="1052333"/>
            </a:xfrm>
            <a:custGeom>
              <a:avLst/>
              <a:gdLst/>
              <a:ahLst/>
              <a:cxnLst/>
              <a:rect r="r" b="b" t="t" l="l"/>
              <a:pathLst>
                <a:path h="1052333" w="5295481">
                  <a:moveTo>
                    <a:pt x="0" y="0"/>
                  </a:moveTo>
                  <a:lnTo>
                    <a:pt x="5295481" y="0"/>
                  </a:lnTo>
                  <a:lnTo>
                    <a:pt x="5295481" y="1052333"/>
                  </a:lnTo>
                  <a:lnTo>
                    <a:pt x="0" y="1052333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95481" cy="1099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210119" y="9693277"/>
            <a:ext cx="15867762" cy="0"/>
          </a:xfrm>
          <a:prstGeom prst="line">
            <a:avLst/>
          </a:prstGeom>
          <a:ln cap="flat" w="38100">
            <a:solidFill>
              <a:srgbClr val="BCA3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18205" y="2469496"/>
            <a:ext cx="17051590" cy="7040805"/>
          </a:xfrm>
          <a:custGeom>
            <a:avLst/>
            <a:gdLst/>
            <a:ahLst/>
            <a:cxnLst/>
            <a:rect r="r" b="b" t="t" l="l"/>
            <a:pathLst>
              <a:path h="7040805" w="17051590">
                <a:moveTo>
                  <a:pt x="0" y="0"/>
                </a:moveTo>
                <a:lnTo>
                  <a:pt x="17051590" y="0"/>
                </a:lnTo>
                <a:lnTo>
                  <a:pt x="17051590" y="7040804"/>
                </a:lnTo>
                <a:lnTo>
                  <a:pt x="0" y="7040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6330" y="620293"/>
            <a:ext cx="15055341" cy="168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50"/>
              </a:lnSpc>
              <a:spcBef>
                <a:spcPct val="0"/>
              </a:spcBef>
            </a:pPr>
            <a:r>
              <a:rPr lang="en-US" b="true" sz="93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Flow Diagram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551215"/>
            <a:ext cx="3896924" cy="1543050"/>
            <a:chOff x="0" y="0"/>
            <a:chExt cx="102635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6350" cy="406400"/>
            </a:xfrm>
            <a:custGeom>
              <a:avLst/>
              <a:gdLst/>
              <a:ahLst/>
              <a:cxnLst/>
              <a:rect r="r" b="b" t="t" l="l"/>
              <a:pathLst>
                <a:path h="406400" w="1026350">
                  <a:moveTo>
                    <a:pt x="0" y="0"/>
                  </a:moveTo>
                  <a:lnTo>
                    <a:pt x="1026350" y="0"/>
                  </a:lnTo>
                  <a:lnTo>
                    <a:pt x="102635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02635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38803" y="9258300"/>
            <a:ext cx="7315200" cy="247973"/>
          </a:xfrm>
          <a:custGeom>
            <a:avLst/>
            <a:gdLst/>
            <a:ahLst/>
            <a:cxnLst/>
            <a:rect r="r" b="b" t="t" l="l"/>
            <a:pathLst>
              <a:path h="247973" w="7315200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28543" y="5593731"/>
            <a:ext cx="5262219" cy="896450"/>
            <a:chOff x="0" y="0"/>
            <a:chExt cx="1433382" cy="2441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3382" cy="244185"/>
            </a:xfrm>
            <a:custGeom>
              <a:avLst/>
              <a:gdLst/>
              <a:ahLst/>
              <a:cxnLst/>
              <a:rect r="r" b="b" t="t" l="l"/>
              <a:pathLst>
                <a:path h="244185" w="1433382">
                  <a:moveTo>
                    <a:pt x="0" y="0"/>
                  </a:moveTo>
                  <a:lnTo>
                    <a:pt x="1433382" y="0"/>
                  </a:lnTo>
                  <a:lnTo>
                    <a:pt x="1433382" y="244185"/>
                  </a:lnTo>
                  <a:lnTo>
                    <a:pt x="0" y="244185"/>
                  </a:lnTo>
                  <a:close/>
                </a:path>
              </a:pathLst>
            </a:custGeom>
            <a:solidFill>
              <a:srgbClr val="EAD6B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33382" cy="291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464365" y="5593731"/>
            <a:ext cx="5262219" cy="896450"/>
            <a:chOff x="0" y="0"/>
            <a:chExt cx="1433382" cy="2441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33382" cy="244185"/>
            </a:xfrm>
            <a:custGeom>
              <a:avLst/>
              <a:gdLst/>
              <a:ahLst/>
              <a:cxnLst/>
              <a:rect r="r" b="b" t="t" l="l"/>
              <a:pathLst>
                <a:path h="244185" w="1433382">
                  <a:moveTo>
                    <a:pt x="0" y="0"/>
                  </a:moveTo>
                  <a:lnTo>
                    <a:pt x="1433382" y="0"/>
                  </a:lnTo>
                  <a:lnTo>
                    <a:pt x="1433382" y="244185"/>
                  </a:lnTo>
                  <a:lnTo>
                    <a:pt x="0" y="244185"/>
                  </a:lnTo>
                  <a:close/>
                </a:path>
              </a:pathLst>
            </a:custGeom>
            <a:solidFill>
              <a:srgbClr val="EAD6B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433382" cy="291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636666" y="5593731"/>
            <a:ext cx="5262219" cy="896450"/>
            <a:chOff x="0" y="0"/>
            <a:chExt cx="1433382" cy="2441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3382" cy="244185"/>
            </a:xfrm>
            <a:custGeom>
              <a:avLst/>
              <a:gdLst/>
              <a:ahLst/>
              <a:cxnLst/>
              <a:rect r="r" b="b" t="t" l="l"/>
              <a:pathLst>
                <a:path h="244185" w="1433382">
                  <a:moveTo>
                    <a:pt x="0" y="0"/>
                  </a:moveTo>
                  <a:lnTo>
                    <a:pt x="1433382" y="0"/>
                  </a:lnTo>
                  <a:lnTo>
                    <a:pt x="1433382" y="244185"/>
                  </a:lnTo>
                  <a:lnTo>
                    <a:pt x="0" y="244185"/>
                  </a:lnTo>
                  <a:close/>
                </a:path>
              </a:pathLst>
            </a:custGeom>
            <a:solidFill>
              <a:srgbClr val="EAD6B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433382" cy="291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664068" y="957614"/>
            <a:ext cx="1146571" cy="114657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true" rot="0">
            <a:off x="15205595" y="-2104185"/>
            <a:ext cx="2520989" cy="3962261"/>
          </a:xfrm>
          <a:custGeom>
            <a:avLst/>
            <a:gdLst/>
            <a:ahLst/>
            <a:cxnLst/>
            <a:rect r="r" b="b" t="t" l="l"/>
            <a:pathLst>
              <a:path h="3962261" w="2520989">
                <a:moveTo>
                  <a:pt x="0" y="3962261"/>
                </a:moveTo>
                <a:lnTo>
                  <a:pt x="2520988" y="3962261"/>
                </a:lnTo>
                <a:lnTo>
                  <a:pt x="2520988" y="0"/>
                </a:lnTo>
                <a:lnTo>
                  <a:pt x="0" y="0"/>
                </a:lnTo>
                <a:lnTo>
                  <a:pt x="0" y="39622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516291"/>
            <a:ext cx="18288000" cy="139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50"/>
              </a:lnSpc>
              <a:spcBef>
                <a:spcPct val="0"/>
              </a:spcBef>
            </a:pPr>
            <a:r>
              <a:rPr lang="en-US" b="true" sz="77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&amp; Key Contribution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9087" y="5797521"/>
            <a:ext cx="3861130" cy="44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b="true" sz="2628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Hierarchical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98170" y="5797521"/>
            <a:ext cx="3861130" cy="44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b="true" sz="2628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Scalable Retrieval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62522" y="5797521"/>
            <a:ext cx="3861130" cy="44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b="true" sz="2628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Hybrid Framework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8543" y="6778451"/>
            <a:ext cx="5142437" cy="80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82"/>
              </a:lnSpc>
              <a:spcBef>
                <a:spcPct val="0"/>
              </a:spcBef>
            </a:pPr>
            <a:r>
              <a:rPr lang="en-US" sz="2344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Document, Section, sentence-level evaluation for precise localization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64365" y="6778451"/>
            <a:ext cx="5142437" cy="80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82"/>
              </a:lnSpc>
              <a:spcBef>
                <a:spcPct val="0"/>
              </a:spcBef>
            </a:pPr>
            <a:r>
              <a:rPr lang="en-US" sz="2344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FAISS-based indexing fpr fast similarity search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36666" y="6778451"/>
            <a:ext cx="5142437" cy="80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82"/>
              </a:lnSpc>
              <a:spcBef>
                <a:spcPct val="0"/>
              </a:spcBef>
            </a:pPr>
            <a:r>
              <a:rPr lang="en-US" sz="2344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Integrates TF-IDF with Sentence-Bert embeddings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7302" y="2879741"/>
            <a:ext cx="15848787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work proposes a hybri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hierarchical framework for semantic plagiarism detection in academic computer science papers by combining lexical and semantic similarity techniques.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0721" y="3516133"/>
            <a:ext cx="3529421" cy="3338071"/>
            <a:chOff x="0" y="0"/>
            <a:chExt cx="929559" cy="879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9559" cy="879163"/>
            </a:xfrm>
            <a:custGeom>
              <a:avLst/>
              <a:gdLst/>
              <a:ahLst/>
              <a:cxnLst/>
              <a:rect r="r" b="b" t="t" l="l"/>
              <a:pathLst>
                <a:path h="879163" w="929559">
                  <a:moveTo>
                    <a:pt x="0" y="0"/>
                  </a:moveTo>
                  <a:lnTo>
                    <a:pt x="929559" y="0"/>
                  </a:lnTo>
                  <a:lnTo>
                    <a:pt x="929559" y="879163"/>
                  </a:lnTo>
                  <a:lnTo>
                    <a:pt x="0" y="879163"/>
                  </a:lnTo>
                  <a:close/>
                </a:path>
              </a:pathLst>
            </a:custGeom>
            <a:solidFill>
              <a:srgbClr val="BCA37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29559" cy="926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50683" y="7365373"/>
            <a:ext cx="1190712" cy="119071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207460" y="7876541"/>
            <a:ext cx="2618042" cy="4114800"/>
          </a:xfrm>
          <a:custGeom>
            <a:avLst/>
            <a:gdLst/>
            <a:ahLst/>
            <a:cxnLst/>
            <a:rect r="r" b="b" t="t" l="l"/>
            <a:pathLst>
              <a:path h="4114800" w="2618042">
                <a:moveTo>
                  <a:pt x="0" y="0"/>
                </a:moveTo>
                <a:lnTo>
                  <a:pt x="2618042" y="0"/>
                </a:lnTo>
                <a:lnTo>
                  <a:pt x="26180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3601700" y="2158589"/>
            <a:ext cx="7315200" cy="247973"/>
          </a:xfrm>
          <a:custGeom>
            <a:avLst/>
            <a:gdLst/>
            <a:ahLst/>
            <a:cxnLst/>
            <a:rect r="r" b="b" t="t" l="l"/>
            <a:pathLst>
              <a:path h="247973" w="7315200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74125" y="-869877"/>
            <a:ext cx="3251377" cy="2483239"/>
          </a:xfrm>
          <a:custGeom>
            <a:avLst/>
            <a:gdLst/>
            <a:ahLst/>
            <a:cxnLst/>
            <a:rect r="r" b="b" t="t" l="l"/>
            <a:pathLst>
              <a:path h="2483239" w="3251377">
                <a:moveTo>
                  <a:pt x="0" y="0"/>
                </a:moveTo>
                <a:lnTo>
                  <a:pt x="3251377" y="0"/>
                </a:lnTo>
                <a:lnTo>
                  <a:pt x="3251377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71519" y="3350122"/>
            <a:ext cx="14744962" cy="316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08"/>
              </a:lnSpc>
            </a:pPr>
            <a:r>
              <a:rPr lang="en-US" b="true" sz="1750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DAHDZH8WOXs</dc:identifier>
  <dcterms:modified xsi:type="dcterms:W3CDTF">2011-08-01T06:04:30Z</dcterms:modified>
  <cp:revision>1</cp:revision>
  <dc:title>Beige and White Simple Research Proposal Presentation</dc:title>
</cp:coreProperties>
</file>